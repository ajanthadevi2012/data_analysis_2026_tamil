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56" r:id="rId2"/>
    <p:sldId id="390" r:id="rId3"/>
    <p:sldId id="391" r:id="rId4"/>
    <p:sldId id="389" r:id="rId5"/>
    <p:sldId id="257" r:id="rId6"/>
    <p:sldId id="263" r:id="rId7"/>
    <p:sldId id="264" r:id="rId8"/>
    <p:sldId id="258" r:id="rId9"/>
    <p:sldId id="265" r:id="rId10"/>
    <p:sldId id="266" r:id="rId11"/>
    <p:sldId id="267" r:id="rId12"/>
    <p:sldId id="268" r:id="rId13"/>
    <p:sldId id="259" r:id="rId14"/>
    <p:sldId id="269" r:id="rId15"/>
    <p:sldId id="270" r:id="rId16"/>
    <p:sldId id="271" r:id="rId17"/>
    <p:sldId id="272" r:id="rId18"/>
    <p:sldId id="260" r:id="rId19"/>
    <p:sldId id="273" r:id="rId20"/>
    <p:sldId id="274" r:id="rId21"/>
    <p:sldId id="275" r:id="rId22"/>
    <p:sldId id="261" r:id="rId23"/>
    <p:sldId id="276" r:id="rId24"/>
    <p:sldId id="277" r:id="rId25"/>
    <p:sldId id="45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75CB4-6971-4F8B-AC06-0E1D749A3B8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0683E-B3C9-461A-9EA3-190DBC2BCE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75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7881A-03A4-4EFC-8497-E667883B7FBA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07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AF73-9EAD-44EE-A70E-E92EE989CE33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9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7357E25-10D3-4BD7-ADF5-C294135D7AE8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8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9344-B7F2-43CC-9D17-2DD2814C1DE0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49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FAC-725D-4FF4-8F34-4399F3566147}" type="datetime1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65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32D8F-FC0E-4EC9-B034-EDA5528DC284}" type="datetime1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0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5539-851D-4766-B831-2961AD29D2F9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52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24BDC-5061-4A50-8BEA-16F88D7F3C7A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08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0050-CBCC-42B3-86E6-0E10BC30FA98}" type="datetime1">
              <a:rPr lang="en-IN" smtClean="0"/>
              <a:t>08-01-2026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8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94166-7B35-4C9B-821E-5865A547AE34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03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DCDB-78B2-4E48-AE1D-5B25E9FB0F1F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31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BF70444-CCB1-45F5-88DF-12D42AAC1775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Dr.Ajantha Devi Research Head</a:t>
            </a:r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36B151A-996B-456D-896C-1B1EA9D1E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86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BAC5-35D9-9C9E-278D-6AAB6C0D5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3172F87-768F-72ED-3F80-0F35806B8E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B5867D7-D444-EA1A-B78D-DE7BF58D3367}"/>
              </a:ext>
            </a:extLst>
          </p:cNvPr>
          <p:cNvSpPr txBox="1">
            <a:spLocks/>
          </p:cNvSpPr>
          <p:nvPr/>
        </p:nvSpPr>
        <p:spPr>
          <a:xfrm>
            <a:off x="1069848" y="4389119"/>
            <a:ext cx="5710780" cy="170992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Rockwell Condensed (Headings)"/>
              </a:rPr>
              <a:t>Dr.V.Ajantha Devi</a:t>
            </a:r>
          </a:p>
          <a:p>
            <a:r>
              <a:rPr lang="en-US" b="1">
                <a:latin typeface="Rockwell Condensed (Headings)"/>
              </a:rPr>
              <a:t>Research Head,</a:t>
            </a:r>
          </a:p>
          <a:p>
            <a:r>
              <a:rPr lang="en-US">
                <a:latin typeface="Rockwell Condensed (Headings)"/>
              </a:rPr>
              <a:t>AP3 Solutions,</a:t>
            </a:r>
          </a:p>
          <a:p>
            <a:r>
              <a:rPr lang="en-US">
                <a:latin typeface="Rockwell Condensed (Headings)"/>
              </a:rPr>
              <a:t>Chennai</a:t>
            </a:r>
          </a:p>
          <a:p>
            <a:r>
              <a:rPr lang="en-US" sz="1600">
                <a:latin typeface="Rockwell Condensed (Headings)"/>
              </a:rPr>
              <a:t>www.ap3-solutions.com</a:t>
            </a:r>
            <a:endParaRPr lang="en-US" sz="1600" dirty="0">
              <a:latin typeface="Rockwell Condensed (Headings)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6AF699-C080-3B8D-9075-D72741DFA8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7575961" y="4325112"/>
            <a:ext cx="2504048" cy="202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1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B32C-D653-CFA6-E03B-1BB09063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i="0" u="none" strike="noStrike" baseline="0" dirty="0">
                <a:solidFill>
                  <a:srgbClr val="000000"/>
                </a:solidFill>
                <a:latin typeface="Bebas Neue" panose="020B0604020202020204" pitchFamily="34" charset="0"/>
              </a:rPr>
              <a:t>Plots in Matplotlib </a:t>
            </a:r>
            <a:endParaRPr lang="en-IN" sz="1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C487-BBED-F7AB-C638-CD355CB8A9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1156C-120C-D008-D05F-4F5E3AE1DB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F6BE7-9A28-85B3-259B-CFE91F17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AC2A1-AFE8-FDD6-EC8E-ED437C493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4E508E-DE94-E6D9-CAC6-AFAAC28CC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97" y="3018876"/>
            <a:ext cx="4301121" cy="2191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19528E-C91B-AACE-A8A3-11CA68F40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120" y="970961"/>
            <a:ext cx="5420412" cy="4949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E5B9E-85F1-092E-B849-BA92927907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2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0C62-2473-F068-0AED-4F48DBC4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i="0" u="none" strike="noStrike" baseline="0" dirty="0">
                <a:solidFill>
                  <a:srgbClr val="000000"/>
                </a:solidFill>
                <a:latin typeface="Bebas Neue" panose="020B0606020202050201" pitchFamily="34" charset="0"/>
              </a:rPr>
              <a:t>Format Strings </a:t>
            </a:r>
            <a:endParaRPr lang="en-IN" sz="11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79398-D23B-C2BD-549D-FDB294B8D8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EEC72-20CC-F974-E217-4D43135477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E2C22-583E-8283-FCC8-43E02C63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5746E-A9AD-51AA-F727-AA442945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E6E74-57B0-CCA6-D76D-D5A4EFA12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761" y="2244851"/>
            <a:ext cx="1773303" cy="3977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5EFD0D-A702-92A9-D2F8-590D0976B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70962"/>
            <a:ext cx="7493838" cy="5040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3F3C82-B802-B4F5-0434-129831F05C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0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5FA0-33D6-28F8-2ABB-58D243003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1FFBF-DAFD-8A03-1F20-603EC6EB1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Comparison Plots</a:t>
            </a: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Relation Plots</a:t>
            </a: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Composition Plots</a:t>
            </a: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Distribution Plots</a:t>
            </a:r>
          </a:p>
          <a:p>
            <a:r>
              <a:rPr lang="en-IN" sz="2000" b="1" i="0" u="none" strike="noStrike" baseline="0" dirty="0" err="1">
                <a:solidFill>
                  <a:srgbClr val="000000"/>
                </a:solidFill>
                <a:latin typeface="Rockwell Condensed (Headings)"/>
              </a:rPr>
              <a:t>Geoplots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5D617-C07B-B35B-D095-A35721355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4B927-0C21-4DC7-5B72-BE5C0075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9210D-A06C-EC71-F0F2-770ED20338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765B-5646-F794-37C2-B9D5E776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Comparison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CB72-D52C-2419-AD55-BA23C4CB17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Rockwell (Body)"/>
              </a:rPr>
              <a:t>Line Chart </a:t>
            </a:r>
          </a:p>
          <a:p>
            <a:r>
              <a:rPr lang="en-IN" sz="2800" i="0" u="none" strike="noStrike" baseline="0" dirty="0">
                <a:solidFill>
                  <a:srgbClr val="000000"/>
                </a:solidFill>
                <a:latin typeface="Rockwell (Body)"/>
              </a:rPr>
              <a:t>Bar Chart </a:t>
            </a:r>
          </a:p>
          <a:p>
            <a:r>
              <a:rPr lang="en-IN" sz="2800" i="0" u="none" strike="noStrike" baseline="0" dirty="0">
                <a:solidFill>
                  <a:srgbClr val="000000"/>
                </a:solidFill>
                <a:latin typeface="Rockwell (Body)"/>
              </a:rPr>
              <a:t>Radar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B2E06-A1A4-B091-AE26-995371DD48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519C6-D45C-A242-16F1-91089BD2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483" y="2018489"/>
            <a:ext cx="4139606" cy="282102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7BCEC4-525F-E300-1D5E-3983E8F7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F2A218-B1B7-2A99-0D6B-EC38C797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9A86E-4400-BAA3-4DE7-FF6A32942A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6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765B-5646-F794-37C2-B9D5E776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Comparison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CB72-D52C-2419-AD55-BA23C4CB17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800" i="0" u="none" strike="noStrike" baseline="0" dirty="0">
                <a:solidFill>
                  <a:srgbClr val="000000"/>
                </a:solidFill>
                <a:latin typeface="Rockwell (Body)"/>
              </a:rPr>
              <a:t>Line Chart </a:t>
            </a:r>
          </a:p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Rockwell (Body)"/>
              </a:rPr>
              <a:t>Bar Chart </a:t>
            </a:r>
          </a:p>
          <a:p>
            <a:r>
              <a:rPr lang="en-IN" sz="2800" i="0" u="none" strike="noStrike" baseline="0" dirty="0">
                <a:solidFill>
                  <a:srgbClr val="000000"/>
                </a:solidFill>
                <a:latin typeface="Rockwell (Body)"/>
              </a:rPr>
              <a:t>Radar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B2E06-A1A4-B091-AE26-995371DD48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EDC7C-C72F-B3FC-C67E-470485E8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8A6CE-DD67-5E19-B7E3-4293129B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0E4728-6A36-4CBF-27DA-A955A0952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619" y="1979625"/>
            <a:ext cx="4993355" cy="2713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30765-609B-19FA-1607-6E34264920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1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765B-5646-F794-37C2-B9D5E776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Comparison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CB72-D52C-2419-AD55-BA23C4CB17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800" i="0" u="none" strike="noStrike" baseline="0" dirty="0">
                <a:solidFill>
                  <a:srgbClr val="000000"/>
                </a:solidFill>
                <a:latin typeface="Rockwell (Body)"/>
              </a:rPr>
              <a:t>Line Chart </a:t>
            </a:r>
          </a:p>
          <a:p>
            <a:r>
              <a:rPr lang="en-IN" sz="2800" i="0" u="none" strike="noStrike" baseline="0" dirty="0">
                <a:solidFill>
                  <a:srgbClr val="000000"/>
                </a:solidFill>
                <a:latin typeface="Rockwell (Body)"/>
              </a:rPr>
              <a:t>Bar Chart </a:t>
            </a:r>
          </a:p>
          <a:p>
            <a:r>
              <a:rPr lang="en-IN" sz="2800" b="1" i="0" u="none" strike="noStrike" baseline="0" dirty="0">
                <a:solidFill>
                  <a:srgbClr val="000000"/>
                </a:solidFill>
                <a:latin typeface="Rockwell (Body)"/>
              </a:rPr>
              <a:t>Radar Chart</a:t>
            </a:r>
            <a:endParaRPr lang="en-IN" sz="2800" b="0" i="0" u="none" strike="noStrike" baseline="0" dirty="0">
              <a:solidFill>
                <a:srgbClr val="000000"/>
              </a:solidFill>
              <a:latin typeface="Rockwell (Body)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B2E06-A1A4-B091-AE26-995371DD48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CD164-BF31-C8F6-8B9D-51C73279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F42BF-DB63-FE2F-5245-316045F6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C16FD-D41D-50BD-36C5-736F725D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630" y="1449371"/>
            <a:ext cx="3555114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CCD682-E08B-C11E-4183-7BAF1E50A1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9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B799-C4C6-159C-E505-4C0F0AB6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Relation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BE86-A330-8A6F-8922-65D367B94E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Scatter Plot </a:t>
            </a:r>
          </a:p>
          <a:p>
            <a:r>
              <a:rPr lang="en-US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Scatter Plots with Marginal Histograms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Bubble Plot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Correlogram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Heatmap</a:t>
            </a:r>
            <a:endParaRPr lang="en-IN" dirty="0">
              <a:latin typeface="Rockwell (Body)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9E903B-EA0B-517D-7D2B-E323BAB119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95FB0-C754-7DE2-A119-655C1008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A697B-320C-78FD-93F7-B16783D2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8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38EF9C-CF9E-45EB-5734-AF842A6F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384" y="1785251"/>
            <a:ext cx="4310744" cy="32874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FC0314-F27E-5A54-6A99-40B356A02A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4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B799-C4C6-159C-E505-4C0F0AB6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Relation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BE86-A330-8A6F-8922-65D367B94E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Scatter Plot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Rockwell (Body)"/>
              </a:rPr>
              <a:t>Variants: Scatter Plots with Marginal Histograms</a:t>
            </a:r>
            <a:endParaRPr lang="en-US" sz="1800" b="0" i="0" u="none" strike="noStrike" baseline="0" dirty="0">
              <a:solidFill>
                <a:srgbClr val="000000"/>
              </a:solidFill>
              <a:latin typeface="Rockwell (Body)"/>
            </a:endParaRP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Bubble Plot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Correlogram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Heatmap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D94DE-0486-73F4-7D0E-73732ACDC6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1AF7D-E6D4-BC7A-21E1-6D97E234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58720-A6F7-BDB9-281C-CCCDD753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F61B7C-5FE1-D48A-5603-E54E7C224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284" y="1117072"/>
            <a:ext cx="4181750" cy="4209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79C462-9036-5136-D222-81154F178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1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B799-C4C6-159C-E505-4C0F0AB6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Relation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BE86-A330-8A6F-8922-65D367B94E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Scatter Plot </a:t>
            </a:r>
          </a:p>
          <a:p>
            <a:r>
              <a:rPr lang="en-US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Scatter Plots with Marginal Histograms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Bubble Plot </a:t>
            </a:r>
            <a:endParaRPr lang="en-IN" sz="1800" b="0" i="0" u="none" strike="noStrike" baseline="0" dirty="0">
              <a:solidFill>
                <a:srgbClr val="000000"/>
              </a:solidFill>
              <a:latin typeface="Rockwell (Body)"/>
            </a:endParaRP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Correlogram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Heatmap</a:t>
            </a:r>
            <a:endParaRPr lang="en-IN" dirty="0">
              <a:latin typeface="Rockwell (Body)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2E03A0-04ED-6FE0-63E5-E0BB5824A4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BAB5E-0B0C-8777-C9C5-EF99391A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CF405-A14C-1CA6-6D20-1DDCEC10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10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AE9FBA-1945-A309-53E2-83653FAEE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661837"/>
            <a:ext cx="4388686" cy="3503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6007E8-73DE-8558-2F7D-CF93F524C7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5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B799-C4C6-159C-E505-4C0F0AB6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Relation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BE86-A330-8A6F-8922-65D367B94E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Scatter Plot </a:t>
            </a:r>
          </a:p>
          <a:p>
            <a:r>
              <a:rPr lang="en-US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Scatter Plots with Marginal Histograms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Bubble Plot 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Correlogram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Heatmap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88535-FF17-9871-29C3-55BB18D7EC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862B6-C288-0730-13EF-AEC6AF0E6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89ACC-53F7-44CE-4043-00C3AE14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61895E-E8CF-3DF1-EEED-D32D80B1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425" y="823649"/>
            <a:ext cx="4276478" cy="4309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2808B5-C785-3C41-EE5E-D49E650A0E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6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B799-C4C6-159C-E505-4C0F0AB6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Relation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BE86-A330-8A6F-8922-65D367B94E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Scatter Plot </a:t>
            </a:r>
          </a:p>
          <a:p>
            <a:r>
              <a:rPr lang="en-US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Scatter Plots with Marginal Histograms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Bubble Plot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Correlogram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Heatmap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E9EC1-1022-AD92-01EE-BA8CC1769B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B0203-6A8B-C9F0-34CC-28C6AC3E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D1CCB-A7A0-2E95-2EC8-1263126A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87AEE1-BA24-4C79-54AC-EB6DBD658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993" y="1289304"/>
            <a:ext cx="4138474" cy="3879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6476D-BC67-8A90-6463-B9D76D54CE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19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BD2-D716-7BFD-F693-B5D8AD9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Composition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4CFD-87BA-7E33-7786-010A819127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Pie Chart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Donut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Bar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Area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Venn Diagram</a:t>
            </a:r>
            <a:endParaRPr lang="en-IN" dirty="0">
              <a:latin typeface="Rockwell (Body)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85E68D-8C1E-EA90-52B5-0F63D1CEC9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15D11-603B-0E27-C51E-A1542D8A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8740C-6EB9-FB31-684A-1508C677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13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4FA5AB-56BF-7FB1-E107-3D680F2D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916" y="966783"/>
            <a:ext cx="4201212" cy="4106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E0CDA9-9433-6539-B312-FE552E4891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BD2-D716-7BFD-F693-B5D8AD9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Composition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4CFD-87BA-7E33-7786-010A819127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Pie Chart 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Variants: Donut Chart</a:t>
            </a:r>
            <a:endParaRPr lang="en-IN" sz="1800" b="0" i="0" u="none" strike="noStrike" baseline="0" dirty="0">
              <a:solidFill>
                <a:srgbClr val="000000"/>
              </a:solidFill>
              <a:latin typeface="Rockwell (Body)"/>
            </a:endParaRP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Bar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Area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Venn Diagram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2A12F-BC8E-E03C-87A6-563CF73010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083CA-3785-7DE3-0F8C-12267748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B9B95-12B9-4456-0120-C4013B42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A1B526-914D-9E62-4044-98CAB36A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241" y="1659117"/>
            <a:ext cx="3948007" cy="3266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62BE22-C0AD-BEDD-54A4-202887430C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5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BD2-D716-7BFD-F693-B5D8AD9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Composition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4CFD-87BA-7E33-7786-010A819127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Pie Chart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Donut Chart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Stacked Bar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Area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Venn Diagram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4AE84-6AE4-C320-9E09-362AFDB60F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947C3-9D88-C604-1AA5-7CEA4A70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29EF0-97CB-F50B-B9B7-8E14C79F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1C20BF-CB53-B792-B715-FC4DFAD55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482" y="1556647"/>
            <a:ext cx="4709726" cy="3529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ECF3C-7AB2-5935-3F44-1FBCB8DCA8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26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BD2-D716-7BFD-F693-B5D8AD9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Composition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4CFD-87BA-7E33-7786-010A819127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Pie Chart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Donut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Bar Chart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Stacked Area Chart</a:t>
            </a:r>
            <a:endParaRPr lang="en-IN" sz="1800" b="0" i="0" u="none" strike="noStrike" baseline="0" dirty="0">
              <a:solidFill>
                <a:srgbClr val="000000"/>
              </a:solidFill>
              <a:latin typeface="Rockwell (Body)"/>
            </a:endParaRP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Venn Diagram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5F701-DB93-9DB0-F8D7-39246F5A0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09E55-E5FA-5D97-048C-68E11D45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66D21-0052-7892-D28B-1DAAED9B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C74AD2-C427-198A-2868-50D057F27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176" y="1989306"/>
            <a:ext cx="3812146" cy="2879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E88B54-F130-8B97-7F46-D2634FF9F4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13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BD2-D716-7BFD-F693-B5D8AD9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Composition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4CFD-87BA-7E33-7786-010A819127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Pie Chart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Variants: Donut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Bar Chart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Stacked Area Chart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Venn Diagram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773EA-0858-50DD-2F31-2B4C9234DD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F2CF9-3C60-226D-3F1F-0FEFF954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5D93B-539C-A690-633B-681A643C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9B79DB-046D-581D-3489-CA3C32FC9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618" y="1669322"/>
            <a:ext cx="4142762" cy="3035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F54440-92EF-DFAE-3750-28D479A6D8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9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D79E-70E1-DFD2-8727-E70F0633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Distribution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7D97-226E-E431-E388-02FC3C292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Histogram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Density Plot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Box Plot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Violin Plot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133312-4458-7720-C735-903F3E9DD0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D257F-5B56-14A9-B833-4BD8C41F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B44CE-072F-D24A-1B43-A9D30EC6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A6984-3C4C-BB64-748F-2623BC6C3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344" y="1743959"/>
            <a:ext cx="4340639" cy="3141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1F0C20-21C5-D135-F323-31488A078E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33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D79E-70E1-DFD2-8727-E70F0633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Distribution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7D97-226E-E431-E388-02FC3C292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Histogram 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Density Plot</a:t>
            </a:r>
            <a:endParaRPr lang="en-IN" sz="1800" b="0" i="0" u="none" strike="noStrike" baseline="0" dirty="0">
              <a:solidFill>
                <a:srgbClr val="000000"/>
              </a:solidFill>
              <a:latin typeface="Rockwell (Body)"/>
            </a:endParaRP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Box Plot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Violin Plot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256CD-89B9-461A-351B-72EB4C8D6E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AD7EC-D095-4758-4928-1D96D2C4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5537E-E86F-A32C-0A56-67C3D850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19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A5E6C-50DF-9DF5-B849-B8208AE1C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30" y="1791095"/>
            <a:ext cx="5055385" cy="3223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110259-FB9C-8575-8C64-3A2F878DD0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12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D79E-70E1-DFD2-8727-E70F0633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Distribution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7D97-226E-E431-E388-02FC3C292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Histogram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Density Plot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Box Plot</a:t>
            </a:r>
            <a:endParaRPr lang="en-IN" sz="1800" b="0" i="0" u="none" strike="noStrike" baseline="0" dirty="0">
              <a:solidFill>
                <a:srgbClr val="000000"/>
              </a:solidFill>
              <a:latin typeface="Rockwell (Body)"/>
            </a:endParaRP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Violin Plot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EAE9F-F67C-3B30-4FE4-394489D9BC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BD40B-3384-0C14-B14F-C28BCC25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3A505-84C5-94ED-1793-D0D833EB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20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BD9AC1-9CC9-44E1-3C63-EBC2C2999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194560"/>
            <a:ext cx="4421947" cy="2984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95D83A-9EF7-FCCE-3ED5-96228B7370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53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D79E-70E1-DFD2-8727-E70F0633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>
                <a:solidFill>
                  <a:srgbClr val="000000"/>
                </a:solidFill>
                <a:latin typeface="Rockwell Condensed (Headings)"/>
              </a:rPr>
              <a:t>Distribution 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7D97-226E-E431-E388-02FC3C292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Histogram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Density Plot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Box Plot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Violin Plot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191FF-56E6-2915-59F0-DC1AFE9138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89FF5-8D52-A5AB-F658-F57A1CDF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69895-7233-00BD-9A1F-6D806CF2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21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DCBE9-4948-F125-9F79-5831A94FF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941923"/>
            <a:ext cx="3929846" cy="3029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56E52-A21F-2373-9BD3-EFA4FB77C9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19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D309-451D-1394-327F-02D618CB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 err="1">
                <a:solidFill>
                  <a:srgbClr val="000000"/>
                </a:solidFill>
                <a:latin typeface="Rockwell Condensed (Headings)"/>
              </a:rPr>
              <a:t>Geoplots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3B151-00F2-674F-8DA7-FCD79BBF53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Dot Map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Choropleth Map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Connection Map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70FE5-8A8D-6A5D-E282-56468A47E5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474C3-F139-D6C6-0077-39C093AD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CC1DF-03E3-C17D-8F3A-5C3DAA6F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22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0EFDDD-D919-D3A4-898D-222357432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12" y="1725105"/>
            <a:ext cx="4515104" cy="3228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F77F9-5AE0-6CBB-BF13-4214C03E96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D309-451D-1394-327F-02D618CB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 err="1">
                <a:solidFill>
                  <a:srgbClr val="000000"/>
                </a:solidFill>
                <a:latin typeface="Rockwell Condensed (Headings)"/>
              </a:rPr>
              <a:t>Geoplots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3B151-00F2-674F-8DA7-FCD79BBF53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Dot Map 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Choropleth Map</a:t>
            </a:r>
            <a:endParaRPr lang="en-IN" sz="1800" b="0" i="0" u="none" strike="noStrike" baseline="0" dirty="0">
              <a:solidFill>
                <a:srgbClr val="000000"/>
              </a:solidFill>
              <a:latin typeface="Rockwell (Body)"/>
            </a:endParaRP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Connection Map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E2558-96FE-7675-7313-F397439835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CACE5-14B1-67D9-859D-03AFA1A8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4FAC4-9E51-BE17-FE66-450896B8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23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7EAB35-7D43-8C8D-AA2A-AB734D5EC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409" y="1682927"/>
            <a:ext cx="5684514" cy="3492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13DA2F-EA03-6167-2AA8-C120619CED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74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D309-451D-1394-327F-02D618CB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 i="0" u="none" strike="noStrike" baseline="0" dirty="0" err="1">
                <a:solidFill>
                  <a:srgbClr val="000000"/>
                </a:solidFill>
                <a:latin typeface="Rockwell Condensed (Headings)"/>
              </a:rPr>
              <a:t>Geoplots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3B151-00F2-674F-8DA7-FCD79BBF53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Dot Map </a:t>
            </a:r>
          </a:p>
          <a:p>
            <a:r>
              <a:rPr lang="en-IN" sz="1800" i="0" u="none" strike="noStrike" baseline="0" dirty="0">
                <a:solidFill>
                  <a:srgbClr val="000000"/>
                </a:solidFill>
                <a:latin typeface="Rockwell (Body)"/>
              </a:rPr>
              <a:t>Choropleth Map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Rockwell (Body)"/>
              </a:rPr>
              <a:t>Connection Map</a:t>
            </a:r>
            <a:endParaRPr lang="en-IN" dirty="0">
              <a:latin typeface="Rockwell (Body)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6E7AA-843E-DEB6-C106-1778D8B1D8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b="1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endParaRPr lang="en-IN" sz="2000" b="1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Uses</a:t>
            </a:r>
            <a:endParaRPr lang="en-IN" sz="2000" b="0" i="0" u="none" strike="noStrike" baseline="0" dirty="0">
              <a:solidFill>
                <a:srgbClr val="000000"/>
              </a:solidFill>
              <a:latin typeface="Open Sans SemiBold" panose="020B0706030804020204" pitchFamily="34" charset="0"/>
            </a:endParaRPr>
          </a:p>
          <a:p>
            <a:r>
              <a:rPr lang="en-IN" sz="2000" b="1" i="0" u="none" strike="noStrike" baseline="0" dirty="0">
                <a:solidFill>
                  <a:srgbClr val="000000"/>
                </a:solidFill>
                <a:latin typeface="Open Sans SemiBold" panose="020B0706030804020204" pitchFamily="34" charset="0"/>
              </a:rPr>
              <a:t>Design Practices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A21DA-AB81-941A-611D-F6DC2DA1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Dr.Ajantha Devi Research Head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F6CEF-593E-AE3E-1A13-1E180F6E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151A-996B-456D-896C-1B1EA9D1E43D}" type="slidenum">
              <a:rPr lang="en-IN" smtClean="0"/>
              <a:t>24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16FDFF-26AF-708C-92D9-57B0193D8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1550958"/>
            <a:ext cx="5871391" cy="3633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82F450-D3C3-0086-4F39-9CBC2225B5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3" t="24821" r="18896" b="23334"/>
          <a:stretch/>
        </p:blipFill>
        <p:spPr>
          <a:xfrm>
            <a:off x="10878532" y="772"/>
            <a:ext cx="1293813" cy="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56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138635-A563-40CD-B9A3-7C6A14C7D6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9CFE315-0734-464A-82CD-89EB4F421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6" y="4389120"/>
            <a:ext cx="10675951" cy="1069848"/>
          </a:xfrm>
        </p:spPr>
        <p:txBody>
          <a:bodyPr>
            <a:noAutofit/>
          </a:bodyPr>
          <a:lstStyle/>
          <a:p>
            <a:endParaRPr lang="en-IN" sz="3200" b="0" i="0" dirty="0">
              <a:effectLst/>
              <a:latin typeface="-apple-system"/>
            </a:endParaRPr>
          </a:p>
          <a:p>
            <a:r>
              <a:rPr lang="en-IN" sz="3600" b="0" i="0" dirty="0">
                <a:effectLst/>
                <a:latin typeface="-apple-system"/>
              </a:rPr>
              <a:t>www.linkedin.com/in/ajantha-devi-vairamani</a:t>
            </a:r>
          </a:p>
          <a:p>
            <a:endParaRPr lang="en-IN" sz="500" b="0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r>
              <a:rPr lang="en-IN" sz="3200" b="0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@DemystifywithAjay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F3017-F93F-40B4-9411-809221FAD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950" y="861860"/>
            <a:ext cx="5771389" cy="296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52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205</TotalTime>
  <Words>506</Words>
  <Application>Microsoft Office PowerPoint</Application>
  <PresentationFormat>Widescreen</PresentationFormat>
  <Paragraphs>350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-apple-system</vt:lpstr>
      <vt:lpstr>Bebas Neue</vt:lpstr>
      <vt:lpstr>Calibri</vt:lpstr>
      <vt:lpstr>Open Sans SemiBold</vt:lpstr>
      <vt:lpstr>Roboto</vt:lpstr>
      <vt:lpstr>Rockwell</vt:lpstr>
      <vt:lpstr>Rockwell (Body)</vt:lpstr>
      <vt:lpstr>Rockwell Condensed</vt:lpstr>
      <vt:lpstr>Rockwell Condensed (Headings)</vt:lpstr>
      <vt:lpstr>Wingdings</vt:lpstr>
      <vt:lpstr>Wood Type</vt:lpstr>
      <vt:lpstr>Data visualization</vt:lpstr>
      <vt:lpstr>Plots in Matplotlib </vt:lpstr>
      <vt:lpstr>Format Strings </vt:lpstr>
      <vt:lpstr>Data visualization</vt:lpstr>
      <vt:lpstr>Comparison Plots</vt:lpstr>
      <vt:lpstr>Comparison Plots</vt:lpstr>
      <vt:lpstr>Comparison Plots</vt:lpstr>
      <vt:lpstr>Relation Plots</vt:lpstr>
      <vt:lpstr>Relation Plots</vt:lpstr>
      <vt:lpstr>Relation Plots</vt:lpstr>
      <vt:lpstr>Relation Plots</vt:lpstr>
      <vt:lpstr>Relation Plots</vt:lpstr>
      <vt:lpstr>Composition Plots</vt:lpstr>
      <vt:lpstr>Composition Plots</vt:lpstr>
      <vt:lpstr>Composition Plots</vt:lpstr>
      <vt:lpstr>Composition Plots</vt:lpstr>
      <vt:lpstr>Composition Plots</vt:lpstr>
      <vt:lpstr>Distribution Plots</vt:lpstr>
      <vt:lpstr>Distribution Plots</vt:lpstr>
      <vt:lpstr>Distribution Plots</vt:lpstr>
      <vt:lpstr>Distribution Plots</vt:lpstr>
      <vt:lpstr>Geoplots</vt:lpstr>
      <vt:lpstr>Geoplots</vt:lpstr>
      <vt:lpstr>Geoplots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Ajantha Devi</dc:creator>
  <cp:lastModifiedBy>Ajantha Devi</cp:lastModifiedBy>
  <cp:revision>25</cp:revision>
  <dcterms:created xsi:type="dcterms:W3CDTF">2022-05-23T11:15:33Z</dcterms:created>
  <dcterms:modified xsi:type="dcterms:W3CDTF">2026-01-08T07:47:48Z</dcterms:modified>
</cp:coreProperties>
</file>